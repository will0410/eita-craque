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29338" y="2128838"/>
            <a:ext cx="3300413" cy="3300413"/>
          </a:xfrm>
          <a:prstGeom prst="ellipse">
            <a:avLst/>
          </a:prstGeom>
          <a:solidFill>
            <a:srgbClr val="000000">
              <a:alpha val="0"/>
            </a:srgbClr>
          </a:solidFill>
          <a:ln w="9144">
            <a:solidFill>
              <a:srgbClr val="00E5FF">
                <a:alpha val="3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192364"/>
            <a:ext cx="9144000" cy="31873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1192364"/>
            <a:ext cx="28575" cy="318736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498681"/>
            <a:ext cx="8715375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spc="-1" kern="0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ESSE É CRAQUE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428625" y="2225557"/>
            <a:ext cx="8715375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Revolução no Scouting de Futebol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8625" y="2645252"/>
            <a:ext cx="3150394" cy="802946"/>
          </a:xfrm>
          <a:prstGeom prst="rect">
            <a:avLst/>
          </a:prstGeom>
          <a:solidFill>
            <a:srgbClr val="2962FF">
              <a:alpha val="10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8" y="2745265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8638" y="2973865"/>
            <a:ext cx="29503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definitiva que conecta atletas, olheiros e clubes via tecnologia.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707606" y="2645252"/>
            <a:ext cx="3150394" cy="802946"/>
          </a:xfrm>
          <a:prstGeom prst="rect">
            <a:avLst/>
          </a:prstGeom>
          <a:solidFill>
            <a:srgbClr val="2962FF">
              <a:alpha val="10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619" y="2752409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07619" y="2981009"/>
            <a:ext cx="29503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Democratização do acesso eliminando barreiras geográficas.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28625" y="3569643"/>
            <a:ext cx="3150394" cy="802946"/>
          </a:xfrm>
          <a:prstGeom prst="rect">
            <a:avLst/>
          </a:prstGeom>
          <a:solidFill>
            <a:srgbClr val="2962FF">
              <a:alpha val="10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8" y="3669655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8638" y="3898255"/>
            <a:ext cx="29503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Paixão pelo esporte combinada com o poder da Inteligência Artificial.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3707606" y="3569643"/>
            <a:ext cx="3150394" cy="802946"/>
          </a:xfrm>
          <a:prstGeom prst="rect">
            <a:avLst/>
          </a:prstGeom>
          <a:solidFill>
            <a:srgbClr val="2962FF">
              <a:alpha val="10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7619" y="3676799"/>
            <a:ext cx="171450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07619" y="3905399"/>
            <a:ext cx="29503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completa: da gravação do lance à proposta oficial.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ECOSSISTEMA INTEGRADO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009055"/>
            <a:ext cx="4086225" cy="1310878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51930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451967"/>
            <a:ext cx="38004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ATLETAS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71500" y="1727002"/>
            <a:ext cx="38004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Portfólio digital completo com lances analisados por IA, métricas de desempenho e visibilidade global para recrutadores.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629150" y="1009055"/>
            <a:ext cx="4086225" cy="1296591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1151930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72025" y="1451967"/>
            <a:ext cx="38004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OLHEIROS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772025" y="1727002"/>
            <a:ext cx="38004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avançada com filtros técnicos precisos, alertas de novos talentos e ferramentas de gestão de scout (CRM).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428625" y="2419945"/>
            <a:ext cx="4086225" cy="1285875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628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1500" y="2862858"/>
            <a:ext cx="38004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CLUBES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571500" y="3137892"/>
            <a:ext cx="38004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centralizada de categorias de base, organização de peneiras oficiais e pipeline estruturado de contratação.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629150" y="2419945"/>
            <a:ext cx="4086225" cy="1285875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2562820"/>
            <a:ext cx="28575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72025" y="2862858"/>
            <a:ext cx="38004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COMUNIDADE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772025" y="3137892"/>
            <a:ext cx="38004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Engajamento ativo através de avaliações ponderadas, feed social e impulsionamento de novos craques.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ANÁLISE POTENCIALIZADA POR IA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080492"/>
            <a:ext cx="3857625" cy="1000125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14375" y="1223367"/>
            <a:ext cx="1266230" cy="183952"/>
          </a:xfrm>
          <a:prstGeom prst="rect">
            <a:avLst/>
          </a:prstGeom>
          <a:solidFill>
            <a:srgbClr val="2962FF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223367"/>
            <a:ext cx="1266230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VISÃO COMPUTACIONAL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14375" y="1478756"/>
            <a:ext cx="35718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RASTREAMENTO AUTOMÁTICO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4375" y="1737717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precisa do jogador em foco, rastreamento de movimentos e detecção de ações técnicas em tempo real.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" y="2223492"/>
            <a:ext cx="3857625" cy="1000125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4375" y="2366367"/>
            <a:ext cx="996553" cy="183952"/>
          </a:xfrm>
          <a:prstGeom prst="rect">
            <a:avLst/>
          </a:prstGeom>
          <a:solidFill>
            <a:srgbClr val="2962FF"/>
          </a:solidFill>
          <a:ln/>
        </p:spPr>
      </p:sp>
      <p:sp>
        <p:nvSpPr>
          <p:cNvPr id="11" name="Text 8"/>
          <p:cNvSpPr/>
          <p:nvPr/>
        </p:nvSpPr>
        <p:spPr>
          <a:xfrm>
            <a:off x="714375" y="2366367"/>
            <a:ext cx="996553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PROCESSAMENTO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14375" y="2621756"/>
            <a:ext cx="35718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RELATÓRIOS INSTANTÂNEOS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14375" y="2880717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de súmula técnica em até 1 minuto após o upload, com notas de 0 a 100 baseadas em critérios profissionais.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714875" y="1080492"/>
            <a:ext cx="3857625" cy="1000125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57750" y="1223367"/>
            <a:ext cx="1071563" cy="183952"/>
          </a:xfrm>
          <a:prstGeom prst="rect">
            <a:avLst/>
          </a:prstGeom>
          <a:solidFill>
            <a:srgbClr val="2962FF"/>
          </a:solidFill>
          <a:ln/>
        </p:spPr>
      </p:sp>
      <p:sp>
        <p:nvSpPr>
          <p:cNvPr id="16" name="Text 13"/>
          <p:cNvSpPr/>
          <p:nvPr/>
        </p:nvSpPr>
        <p:spPr>
          <a:xfrm>
            <a:off x="4857750" y="1223367"/>
            <a:ext cx="1071563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DESENVOLVIMENTO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857750" y="1478756"/>
            <a:ext cx="35718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FEEDBACK EDUCATIVO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57750" y="1737717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IA sugere pontos específicos de melhoria e focos de treinamento baseados na análise biomecânica e tática.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14875" y="2223492"/>
            <a:ext cx="3857625" cy="1000125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57750" y="2366367"/>
            <a:ext cx="937617" cy="183952"/>
          </a:xfrm>
          <a:prstGeom prst="rect">
            <a:avLst/>
          </a:prstGeom>
          <a:solidFill>
            <a:srgbClr val="2962FF"/>
          </a:solidFill>
          <a:ln/>
        </p:spPr>
      </p:sp>
      <p:sp>
        <p:nvSpPr>
          <p:cNvPr id="21" name="Text 18"/>
          <p:cNvSpPr/>
          <p:nvPr/>
        </p:nvSpPr>
        <p:spPr>
          <a:xfrm>
            <a:off x="4857750" y="2366367"/>
            <a:ext cx="937617" cy="183952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TRANSPARÊNCIA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857750" y="2621756"/>
            <a:ext cx="35718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 TECNOLÓGICO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857750" y="2880717"/>
            <a:ext cx="35718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Exposição clara dos critérios avaliados, permitindo que o atleta entenda sua nota e conteste resultados se necessário.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CARTÃO DE VISITAS DIGITAL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080492"/>
            <a:ext cx="2571750" cy="3214688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259086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4375" y="1566267"/>
            <a:ext cx="2276484" cy="244673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SÚMULA TÉCNICA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946672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5825" y="1918097"/>
            <a:ext cx="189309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físicos: altura, peso e idade.</a:t>
            </a:r>
            <a:endParaRPr lang="en-US" sz="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192406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85825" y="2163831"/>
            <a:ext cx="2105034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técnicos: posição e pé dominante.</a:t>
            </a:r>
            <a:endParaRPr lang="en-US" sz="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598148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85825" y="2569573"/>
            <a:ext cx="179843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 de clubes e conquistas.</a:t>
            </a:r>
            <a:endParaRPr lang="en-US" sz="8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843882"/>
            <a:ext cx="100013" cy="10001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85825" y="2815307"/>
            <a:ext cx="181629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Localização e status de mercado.</a:t>
            </a:r>
            <a:endParaRPr lang="en-US" sz="850" dirty="0"/>
          </a:p>
        </p:txBody>
      </p:sp>
      <p:sp>
        <p:nvSpPr>
          <p:cNvPr id="15" name="Shape 7"/>
          <p:cNvSpPr/>
          <p:nvPr/>
        </p:nvSpPr>
        <p:spPr>
          <a:xfrm>
            <a:off x="714375" y="3132479"/>
            <a:ext cx="1050131" cy="13394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6" name="Text 8"/>
          <p:cNvSpPr/>
          <p:nvPr/>
        </p:nvSpPr>
        <p:spPr>
          <a:xfrm>
            <a:off x="714375" y="3132479"/>
            <a:ext cx="1050131" cy="1339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18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PRONTO PARA SCOUT</a:t>
            </a:r>
            <a:endParaRPr lang="en-US" sz="600" dirty="0"/>
          </a:p>
        </p:txBody>
      </p:sp>
      <p:sp>
        <p:nvSpPr>
          <p:cNvPr id="17" name="Shape 9"/>
          <p:cNvSpPr/>
          <p:nvPr/>
        </p:nvSpPr>
        <p:spPr>
          <a:xfrm>
            <a:off x="3276609" y="1080492"/>
            <a:ext cx="2576522" cy="3214688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4228" y="1259086"/>
            <a:ext cx="225028" cy="20002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424228" y="1566267"/>
            <a:ext cx="2281228" cy="244673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GALERIA DE LANCES</a:t>
            </a:r>
            <a:endParaRPr lang="en-US" sz="11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4228" y="1946672"/>
            <a:ext cx="100013" cy="10001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595678" y="1918097"/>
            <a:ext cx="208954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de apresentação fixado no topo.</a:t>
            </a:r>
            <a:endParaRPr lang="en-US" sz="8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4228" y="2192406"/>
            <a:ext cx="100013" cy="10001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595678" y="2163831"/>
            <a:ext cx="21097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Melhores momentos com análise de IA.</a:t>
            </a:r>
            <a:endParaRPr lang="en-US" sz="8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4228" y="2598148"/>
            <a:ext cx="100013" cy="100013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595678" y="2569573"/>
            <a:ext cx="193595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de jogada (gol, drible, defesa).</a:t>
            </a:r>
            <a:endParaRPr lang="en-US" sz="8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4228" y="2843882"/>
            <a:ext cx="100013" cy="100013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3595678" y="2815307"/>
            <a:ext cx="21097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de visualizações e curtidas.</a:t>
            </a:r>
            <a:endParaRPr lang="en-US" sz="850" dirty="0"/>
          </a:p>
        </p:txBody>
      </p:sp>
      <p:sp>
        <p:nvSpPr>
          <p:cNvPr id="28" name="Shape 15"/>
          <p:cNvSpPr/>
          <p:nvPr/>
        </p:nvSpPr>
        <p:spPr>
          <a:xfrm>
            <a:off x="3424228" y="3292487"/>
            <a:ext cx="932259" cy="13394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9" name="Text 16"/>
          <p:cNvSpPr/>
          <p:nvPr/>
        </p:nvSpPr>
        <p:spPr>
          <a:xfrm>
            <a:off x="3424228" y="3292487"/>
            <a:ext cx="932259" cy="1339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18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PORTFÓLIO VISUAL</a:t>
            </a:r>
            <a:endParaRPr lang="en-US" sz="600" dirty="0"/>
          </a:p>
        </p:txBody>
      </p:sp>
      <p:sp>
        <p:nvSpPr>
          <p:cNvPr id="30" name="Shape 17"/>
          <p:cNvSpPr/>
          <p:nvPr/>
        </p:nvSpPr>
        <p:spPr>
          <a:xfrm>
            <a:off x="5991206" y="1080492"/>
            <a:ext cx="2581266" cy="3214688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43625" y="1259086"/>
            <a:ext cx="250031" cy="200025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143625" y="1566267"/>
            <a:ext cx="2286000" cy="244673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PRIVACIDADE</a:t>
            </a:r>
            <a:endParaRPr lang="en-US" sz="1150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3625" y="1946672"/>
            <a:ext cx="100013" cy="100013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6315075" y="1918097"/>
            <a:ext cx="204847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 total de visibilidade do perfil.</a:t>
            </a:r>
            <a:endParaRPr lang="en-US" sz="850" dirty="0"/>
          </a:p>
        </p:txBody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3625" y="2192406"/>
            <a:ext cx="100013" cy="100013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6315075" y="2163831"/>
            <a:ext cx="21145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especial para atletas menores.</a:t>
            </a:r>
            <a:endParaRPr lang="en-US" sz="85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43625" y="2598148"/>
            <a:ext cx="100013" cy="100013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6315075" y="2569573"/>
            <a:ext cx="183951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Aprovação manual de seguidores.</a:t>
            </a:r>
            <a:endParaRPr lang="en-US" sz="85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43625" y="2843882"/>
            <a:ext cx="100013" cy="100013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6315075" y="2815307"/>
            <a:ext cx="191273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 de responsáveis legais.</a:t>
            </a:r>
            <a:endParaRPr lang="en-US" sz="850" dirty="0"/>
          </a:p>
        </p:txBody>
      </p:sp>
      <p:sp>
        <p:nvSpPr>
          <p:cNvPr id="41" name="Shape 23"/>
          <p:cNvSpPr/>
          <p:nvPr/>
        </p:nvSpPr>
        <p:spPr>
          <a:xfrm>
            <a:off x="6143625" y="3132479"/>
            <a:ext cx="934045" cy="13394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2" name="Text 24"/>
          <p:cNvSpPr/>
          <p:nvPr/>
        </p:nvSpPr>
        <p:spPr>
          <a:xfrm>
            <a:off x="6143625" y="3132479"/>
            <a:ext cx="934045" cy="1339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218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AMBIENTE SEGURO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EXPERIÊNCIA SOCIAL: A TRIBUNA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151930"/>
            <a:ext cx="2524116" cy="3214688"/>
          </a:xfrm>
          <a:prstGeom prst="rect">
            <a:avLst/>
          </a:prstGeom>
          <a:solidFill>
            <a:srgbClr val="2962FF">
              <a:alpha val="3000"/>
            </a:srgbClr>
          </a:solidFill>
          <a:ln w="9144">
            <a:solidFill>
              <a:srgbClr val="00E5FF">
                <a:alpha val="15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366242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0094" y="1709142"/>
            <a:ext cx="2157413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FEED INTELIGENTE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50094" y="2135981"/>
            <a:ext cx="21252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Algoritmo personalizado que prioriza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50094" y="2330286"/>
            <a:ext cx="146089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descoberta de talentos: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5844" y="2644248"/>
            <a:ext cx="187166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Seção "Pra Você" baseada em localização e posição.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35844" y="3118582"/>
            <a:ext cx="187166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rápidos por categoria e tendências semanais.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35844" y="3592916"/>
            <a:ext cx="1871663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Destaque para atletas em ascensão rápida.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300413" y="1151930"/>
            <a:ext cx="2528888" cy="3214688"/>
          </a:xfrm>
          <a:prstGeom prst="rect">
            <a:avLst/>
          </a:prstGeom>
          <a:solidFill>
            <a:srgbClr val="2962FF">
              <a:alpha val="3000"/>
            </a:srgbClr>
          </a:solidFill>
          <a:ln w="9144">
            <a:solidFill>
              <a:srgbClr val="00E5FF">
                <a:alpha val="15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778" y="1366242"/>
            <a:ext cx="225028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83778" y="1709142"/>
            <a:ext cx="2162184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VOTO PONDERADO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3483778" y="2135981"/>
            <a:ext cx="194488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 avaliação técnica com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483778" y="2330286"/>
            <a:ext cx="196631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pesos baseados em credibilidade: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769528" y="2644248"/>
            <a:ext cx="187643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Olheiros verificados possuem peso 5x na nota.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769528" y="3118582"/>
            <a:ext cx="187643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Treinadores e atletas profissionais com peso 3x.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3769528" y="3592916"/>
            <a:ext cx="1876434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automática de padrões de votos suspeitos.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038869" y="1151930"/>
            <a:ext cx="2533659" cy="3214688"/>
          </a:xfrm>
          <a:prstGeom prst="rect">
            <a:avLst/>
          </a:prstGeom>
          <a:solidFill>
            <a:srgbClr val="2962FF">
              <a:alpha val="3000"/>
            </a:srgbClr>
          </a:solidFill>
          <a:ln w="9144">
            <a:solidFill>
              <a:srgbClr val="00E5FF">
                <a:alpha val="1500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950" y="1366242"/>
            <a:ext cx="225028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26950" y="1709142"/>
            <a:ext cx="2166928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GAMIFICAÇÃO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26950" y="2135981"/>
            <a:ext cx="19127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Engajamento contínuo através 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226950" y="2330286"/>
            <a:ext cx="14394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conquistas e visibilidade: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512700" y="2644248"/>
            <a:ext cx="1881178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Rankings nacionais, estaduais e por posição.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512700" y="3118582"/>
            <a:ext cx="1881178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Badges de conquista por marcos de desempenho.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512700" y="3592916"/>
            <a:ext cx="1881178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Desafios semanais com votação da comunidade.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FERRAMENTAS PARA OLHEIROS E CLUBES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0" y="1151930"/>
            <a:ext cx="9144000" cy="2871788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E5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437680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03709" y="1519833"/>
            <a:ext cx="1444823" cy="26789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BUSCA CIRÚRGICA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85813" y="2044898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por pé dominante, altura e percentil de nota IA.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85813" y="2563490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 por evolução técnica nos últimos 30 dias.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785813" y="3082082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Alertas inteligentes para novos talentos detectados.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203" y="1437680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73100" y="1519833"/>
            <a:ext cx="1212652" cy="26789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CRM DE SCOUT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3455203" y="2044898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Listas privadas e anotações internas da equipe.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455203" y="2563490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 visual para gestão do pipeline de talentos.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3455203" y="3082082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Exportação de relatórios detalhados em PDF/CSV.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594" y="1437680"/>
            <a:ext cx="250031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06772" y="1519833"/>
            <a:ext cx="1689497" cy="267891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GESTÃO DE PENEIRAS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124594" y="2044898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Publicação de eventos oficiais com inscrições integradas.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124594" y="2563490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prévios automáticos de candidatos por perfil.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6124594" y="3082082"/>
            <a:ext cx="223362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direta e segura com atletas selecionados.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PAINEL ANALÍTICO E EVOLUÇÃO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080492"/>
            <a:ext cx="4749171" cy="2855714"/>
          </a:xfrm>
          <a:prstGeom prst="rect">
            <a:avLst/>
          </a:prstGeom>
          <a:solidFill>
            <a:srgbClr val="2962FF">
              <a:alpha val="5000"/>
            </a:srgbClr>
          </a:solidFill>
          <a:ln w="9144">
            <a:solidFill>
              <a:srgbClr val="00E5FF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223367"/>
            <a:ext cx="4457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EVOLUÇÃO TÉCNICA (ÚLTIMOS 6 MESES)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21606"/>
            <a:ext cx="4448770" cy="25003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00700" y="1080492"/>
            <a:ext cx="2971800" cy="842572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43575" y="1187648"/>
            <a:ext cx="26860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BENCHMARKING PROFISSIONAL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743575" y="1385888"/>
            <a:ext cx="26860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Nível: Vinícius Jr. (15 anos)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743575" y="1628775"/>
            <a:ext cx="26860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 aceleração e drible curto estão 12% acima da média para a categoria Sub-15 nacional.</a:t>
            </a:r>
            <a:endParaRPr lang="en-US" sz="750" dirty="0"/>
          </a:p>
        </p:txBody>
      </p:sp>
      <p:sp>
        <p:nvSpPr>
          <p:cNvPr id="11" name="Shape 7"/>
          <p:cNvSpPr/>
          <p:nvPr/>
        </p:nvSpPr>
        <p:spPr>
          <a:xfrm>
            <a:off x="5600700" y="2051652"/>
            <a:ext cx="2971800" cy="842572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743575" y="2158808"/>
            <a:ext cx="26860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VISIBILIDADE DE MERCADO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743575" y="2357047"/>
            <a:ext cx="26860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Visitas de Olheiros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743575" y="2599934"/>
            <a:ext cx="26860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Clubes como Flamengo, Palmeiras e São Paulo visualizaram seu perfil na última semana.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5600700" y="3022811"/>
            <a:ext cx="2971800" cy="842572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743575" y="3129967"/>
            <a:ext cx="268605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POTENCIAL IA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743575" y="3328206"/>
            <a:ext cx="268605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Score: 88/100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743575" y="3571094"/>
            <a:ext cx="268605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Projeção de crescimento baseada em consistência de treinos e evolução de notas.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E5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SEGURANÇA E SUSTENTABILIDADE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0" y="1151930"/>
            <a:ext cx="9144000" cy="2871788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E5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403747"/>
            <a:ext cx="178594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5844" y="1366242"/>
            <a:ext cx="97512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SEGURANÇA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785813" y="1727002"/>
            <a:ext cx="223362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PROTEÇÃO DE MENORES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785813" y="1889522"/>
            <a:ext cx="22336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Controles parentais robustos, aprovação de responsáveis para mensagens e moderação proativa por IA.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785813" y="2476705"/>
            <a:ext cx="223362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AMBIENTE SAUDÁVEL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785813" y="2639225"/>
            <a:ext cx="22336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Detecção automática de discurso de ódio, bullying e conteúdos impróprios com revisão humana.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203" y="1403747"/>
            <a:ext cx="107156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33797" y="1366242"/>
            <a:ext cx="103941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455203" y="1727002"/>
            <a:ext cx="223362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PRIVACIDADE (LGPD)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3455203" y="1889522"/>
            <a:ext cx="22336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Conformidade total com a LGPD, consentimento granular e direito ao esquecimento garantido.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3455203" y="2476705"/>
            <a:ext cx="223362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DIREITO DE IMAGEM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3455203" y="2639225"/>
            <a:ext cx="22336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Termos especiais para uso comercial de imagem por clubes e proteção jurídica para atletas.</a:t>
            </a:r>
            <a:endParaRPr lang="en-US" sz="8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594" y="1403747"/>
            <a:ext cx="142875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38906" y="1366242"/>
            <a:ext cx="114657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MONETIZAÇÃO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124594" y="1727002"/>
            <a:ext cx="223362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PLANOS DE ACESSO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6124594" y="1898452"/>
            <a:ext cx="337542" cy="16285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600" dirty="0"/>
          </a:p>
        </p:txBody>
      </p:sp>
      <p:sp>
        <p:nvSpPr>
          <p:cNvPr id="21" name="Text 15"/>
          <p:cNvSpPr/>
          <p:nvPr/>
        </p:nvSpPr>
        <p:spPr>
          <a:xfrm>
            <a:off x="6497855" y="1900238"/>
            <a:ext cx="10608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Básico para atletas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6124594" y="2105955"/>
            <a:ext cx="532209" cy="16285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6692522" y="2107741"/>
            <a:ext cx="105548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Analítica avançada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6124594" y="2313459"/>
            <a:ext cx="648295" cy="16285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>
            <a:off x="6808608" y="2315245"/>
            <a:ext cx="108049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para clubes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6124594" y="2619189"/>
            <a:ext cx="223362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MARKETPLACE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6124594" y="2781709"/>
            <a:ext cx="2233622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E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Comissões sobre serviços profissionais e eventos patrocinados na plataforma.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2026-04-29T23:23:17Z</dcterms:created>
  <dcterms:modified xsi:type="dcterms:W3CDTF">2026-04-29T23:23:17Z</dcterms:modified>
</cp:coreProperties>
</file>